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Una sola plataforma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Arquitectura modular, auditable y reproducible — opción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FUENTES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Voltux · Share CRM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TMS · FX · Call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2344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79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1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LAKE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Python / Oracle 11g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Parquet · S3/MinIO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680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PostgreSQL / Redshift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Estrella · SCD Tipo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3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19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399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699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SEMÁNTICA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2983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dbt + reglas de calidad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Linaje · monitoreo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47503" y="2569464"/>
            <a:ext cx="18288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2300" b="1">
                <a:solidFill>
                  <a:srgbClr val="21D3BD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1874519"/>
            <a:ext cx="2148840" cy="207568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04119" y="2130552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68712" y="2057400"/>
            <a:ext cx="163677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500" b="1">
                <a:solidFill>
                  <a:srgbClr val="F0F7FD"/>
                </a:solidFill>
                <a:latin typeface="Aptos"/>
              </a:defRPr>
            </a:pPr>
            <a:r>
              <a:t>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04704" y="2670048"/>
            <a:ext cx="1673352" cy="11612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Mantis · pgvector</a:t>
            </a:r>
          </a:p>
          <a:p>
            <a:pPr>
              <a:defRPr sz="1100" b="0">
                <a:solidFill>
                  <a:srgbClr val="A6BFD2"/>
                </a:solidFill>
                <a:latin typeface="Aptos"/>
              </a:defRPr>
            </a:pPr>
            <a:r>
              <a:t>RAG · búsqueda semántica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4873752"/>
            <a:ext cx="10149840" cy="393192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700" b="1">
                <a:solidFill>
                  <a:srgbClr val="F0F7FD"/>
                </a:solidFill>
                <a:latin typeface="Aptos"/>
              </a:defRPr>
            </a:pPr>
            <a:r>
              <a:t>Operación: Airflow 02:00  •  Kafka + Spark en tiempo real  •  calidad bloqueante antes de publicar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5715000"/>
            <a:ext cx="1078992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F3C35C"/>
                </a:solidFill>
                <a:latin typeface="Aptos"/>
              </a:defRPr>
            </a:pPr>
            <a:r>
              <a:t>5/5 integraciones reales probadas con datos sintéticos; no es certificación de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Volumen: referencia vs estrés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Separar la magnitud del reto de lo que ya está ejecutado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VOLTUX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4.5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Registros del sistema (referencia)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TMS PAGOS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7176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6.9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Transacciones (referencia)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19" y="1700784"/>
            <a:ext cx="3557016" cy="19659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41663" y="1920240"/>
            <a:ext cx="3108960" cy="32004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1">
                <a:solidFill>
                  <a:srgbClr val="A6BFD2"/>
                </a:solidFill>
                <a:latin typeface="Aptos"/>
              </a:defRPr>
            </a:pPr>
            <a:r>
              <a:t>TMS COMENTARIOS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258568"/>
            <a:ext cx="3108960" cy="649224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400" b="1">
                <a:solidFill>
                  <a:srgbClr val="21D3BD"/>
                </a:solidFill>
                <a:latin typeface="Aptos"/>
              </a:defRPr>
            </a:pPr>
            <a:r>
              <a:t>10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3" y="3118104"/>
            <a:ext cx="310896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Textos (referencia)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5072"/>
            <a:ext cx="10835640" cy="1408176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233672"/>
            <a:ext cx="982980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POSTGRESQL 16: 42.8 M DE FILAS FÍSICAS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718304"/>
            <a:ext cx="10058400" cy="4114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800" b="0">
                <a:solidFill>
                  <a:srgbClr val="21D3BD"/>
                </a:solidFill>
                <a:latin typeface="Aptos"/>
              </a:defRPr>
            </a:pPr>
            <a:r>
              <a:t>9.0M leads  ·  13.8M pagos  ·  20.0M comentarios  ·  0 huérfanos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F3C35C"/>
                </a:solidFill>
                <a:latin typeface="Aptos"/>
              </a:defRPr>
            </a:pPr>
            <a:r>
              <a:t>436.102 s, replay sin duplicados. No es un benchmark end-to-end multi-motor.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Calidad y modelo dimensional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Probar relaciones y consistencia antes de escalar el volumen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5166360" cy="331012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7510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901952"/>
            <a:ext cx="4654296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Modelo dimensional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514600"/>
            <a:ext cx="4690872" cy="239572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fact_ventas · fact_fx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fact_interacciones · fact_tours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SCD2: cliente y sala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Claves sustitutas y correspondencias entre sistemas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719072"/>
            <a:ext cx="5349240" cy="3310128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975104"/>
            <a:ext cx="50292" cy="411480"/>
          </a:xfrm>
          <a:prstGeom prst="rect">
            <a:avLst/>
          </a:prstGeom>
          <a:solidFill>
            <a:srgbClr val="F3C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01952"/>
            <a:ext cx="4837175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Evidencia comprobada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4873752" cy="239572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5/5 integraciones CI: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14 controles de calidad: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4 relaciones conciliadas: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Contratos/ventas, pagos/contratos,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comentarios/tours y ventas/FX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559552"/>
            <a:ext cx="10424160" cy="585216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300" b="0">
                <a:solidFill>
                  <a:srgbClr val="A6BFD2"/>
                </a:solidFill>
                <a:latin typeface="Aptos"/>
              </a:defRPr>
            </a:pPr>
            <a:r>
              <a:t>GitHub Actions #39336589227: PostgreSQL, dbt, MinIO, Airflow, Kafka/Spark y RAG PASS.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Del Call Center a Mantis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Procesamiento near-real-time y búsqueda semántica con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00784"/>
            <a:ext cx="5221224" cy="33375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56816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883664"/>
            <a:ext cx="470916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Kafka + Spark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496312"/>
            <a:ext cx="4745736" cy="24231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transcripciones_raw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regex / reglas aprobadas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transcripciones_procesadas + alertas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UPSERT por event_id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PostgreSQL (replay idempotente)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700784"/>
            <a:ext cx="5358384" cy="333756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956816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83664"/>
            <a:ext cx="484632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Embeddings +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96312"/>
            <a:ext cx="4882896" cy="24231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Comentarios/transcripciones a Parquet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privacidad + chunking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Embeddings incrementales (hash)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   ↓ pgvector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Mantis: recuperación con fuentes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530352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300" b="0">
                <a:solidFill>
                  <a:srgbClr val="F3C35C"/>
                </a:solidFill>
                <a:latin typeface="Aptos"/>
              </a:defRPr>
            </a:pPr>
            <a:r>
              <a:t>Kafka/Spark y pgvector verificados en CI; API Mantis empresarial aún sin acceso.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00584" cy="484632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37744"/>
            <a:ext cx="10058400" cy="59436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3000" b="1">
                <a:solidFill>
                  <a:srgbClr val="F0F7FD"/>
                </a:solidFill>
                <a:latin typeface="Aptos"/>
              </a:defRPr>
            </a:pPr>
            <a:r>
              <a:t>Viabilidad, riesgos y próximos hitos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32688"/>
            <a:ext cx="10515600" cy="475488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Propuesta orientada a valor para FX, Client Journey y consolidación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28232"/>
            <a:ext cx="10881360" cy="1463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73952"/>
            <a:ext cx="731520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000" b="0">
                <a:solidFill>
                  <a:srgbClr val="A6BFD2"/>
                </a:solidFill>
                <a:latin typeface="Aptos"/>
              </a:defRPr>
            </a:pPr>
            <a:r>
              <a:t>SUNSET WORLD  |  PROPUESTA TÉCNICA  |  DATOS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 algn="r">
              <a:defRPr sz="1000" b="1">
                <a:solidFill>
                  <a:srgbClr val="21D3BD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73352"/>
            <a:ext cx="3483864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92938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856232"/>
            <a:ext cx="2971800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Beneficio esperado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468880"/>
            <a:ext cx="3008376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FX centralizado y conciliable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Visión de cliente y contratos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Menos inconsistencias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Datos gobernados para Mantis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73352"/>
            <a:ext cx="3493008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929384"/>
            <a:ext cx="50292" cy="411480"/>
          </a:xfrm>
          <a:prstGeom prst="rect">
            <a:avLst/>
          </a:prstGeom>
          <a:solidFill>
            <a:srgbClr val="F3C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56232"/>
            <a:ext cx="2980944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Riesgos y costos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468880"/>
            <a:ext cx="3017520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Acceso Oracle 11g / latencia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PII, consentimiento y ACL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Recursos Spark / Kafka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Storage, cómputo, operación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No hay ROI estimado sin piloto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2712" y="1673352"/>
            <a:ext cx="3493008" cy="3383280"/>
          </a:xfrm>
          <a:prstGeom prst="roundRect">
            <a:avLst/>
          </a:prstGeom>
          <a:solidFill>
            <a:srgbClr val="182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929384"/>
            <a:ext cx="50292" cy="411480"/>
          </a:xfrm>
          <a:prstGeom prst="rect">
            <a:avLst/>
          </a:prstGeom>
          <a:solidFill>
            <a:srgbClr val="21D3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1856232"/>
            <a:ext cx="2980944" cy="521207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900" b="1">
                <a:solidFill>
                  <a:srgbClr val="F0F7FD"/>
                </a:solidFill>
                <a:latin typeface="Aptos"/>
              </a:defRPr>
            </a:pPr>
            <a:r>
              <a:t>Hitos de aceptación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468880"/>
            <a:ext cx="3017520" cy="246888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1. Integración: 5/5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2. PostgreSQL 42.8M: PASS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3. Validar Oracle 11g real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4. Acordar API Mantis/VPG</a:t>
            </a:r>
          </a:p>
          <a:p>
            <a:pPr>
              <a:defRPr sz="1400" b="0">
                <a:solidFill>
                  <a:srgbClr val="A6BFD2"/>
                </a:solidFill>
                <a:latin typeface="Aptos"/>
              </a:defRPr>
            </a:pPr>
            <a:r>
              <a:t>5. Dimensionar producción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596128"/>
            <a:ext cx="10789920" cy="457200"/>
          </a:xfrm>
          <a:prstGeom prst="rect">
            <a:avLst/>
          </a:prstGeom>
          <a:noFill/>
        </p:spPr>
        <p:txBody>
          <a:bodyPr wrap="square" lIns="45720" tIns="36576" bIns="0">
            <a:spAutoFit/>
          </a:bodyPr>
          <a:lstStyle/>
          <a:p>
            <a:pPr>
              <a:defRPr sz="1200" b="0">
                <a:solidFill>
                  <a:srgbClr val="A6BFD2"/>
                </a:solidFill>
                <a:latin typeface="Aptos"/>
              </a:defRPr>
            </a:pPr>
            <a:r>
              <a:t>Evidencia: GitHub Actions #39336589227 y #39334943627. Datos sintéticos.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