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Una sola plataforma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Arquitectura modular, auditable y reproducible — opción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01/05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FUENTES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Voltux · Share CRM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TMS · FX · Call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2344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79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1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LAKE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Python / Oracle 11g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Parquet · S3/MinIO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0680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PostgreSQL / Redshift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Estrella · SCD Tipo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3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19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399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699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SEMÁNTICA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2983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dbt + reglas de calidad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Linaje · monitoreo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47503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04119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6871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0470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Mantis · pgvector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RAG · búsqueda semántica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77724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4873752"/>
            <a:ext cx="10149840" cy="393192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700" b="1">
                <a:solidFill>
                  <a:srgbClr val="F0F7FD"/>
                </a:solidFill>
                <a:latin typeface="Aptos"/>
              </a:defRPr>
            </a:pPr>
            <a:r>
              <a:t>Operación: Airflow 02:00  •  Kafka + Spark en tiempo real  •  calidad bloqueante antes de publicar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5715000"/>
            <a:ext cx="10789920" cy="4114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F3C35C"/>
                </a:solidFill>
                <a:latin typeface="Aptos"/>
              </a:defRPr>
            </a:pPr>
            <a:r>
              <a:t>Propuesta de implementación. No se han probado en este entorno los servicios empresariales.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Volúmenes: referencia vs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Separar la magnitud del reto de lo que ya está ejecutado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02/05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00784"/>
            <a:ext cx="3557016" cy="19659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20240"/>
            <a:ext cx="3108960" cy="32004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1">
                <a:solidFill>
                  <a:srgbClr val="A6BFD2"/>
                </a:solidFill>
                <a:latin typeface="Aptos"/>
              </a:defRPr>
            </a:pPr>
            <a:r>
              <a:t>VOLTUX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258568"/>
            <a:ext cx="3108960" cy="649224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400" b="1">
                <a:solidFill>
                  <a:srgbClr val="21D3BD"/>
                </a:solidFill>
                <a:latin typeface="Aptos"/>
              </a:defRPr>
            </a:pPr>
            <a:r>
              <a:t>4.5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118104"/>
            <a:ext cx="310896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Registros del sistema (referencia)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1700784"/>
            <a:ext cx="3557016" cy="19659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920240"/>
            <a:ext cx="3108960" cy="32004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1">
                <a:solidFill>
                  <a:srgbClr val="A6BFD2"/>
                </a:solidFill>
                <a:latin typeface="Aptos"/>
              </a:defRPr>
            </a:pPr>
            <a:r>
              <a:t>TMS PAGOS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7176" y="2258568"/>
            <a:ext cx="3108960" cy="649224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400" b="1">
                <a:solidFill>
                  <a:srgbClr val="21D3BD"/>
                </a:solidFill>
                <a:latin typeface="Aptos"/>
              </a:defRPr>
            </a:pPr>
            <a:r>
              <a:t>6.9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118104"/>
            <a:ext cx="310896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Transacciones (referencia)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19" y="1700784"/>
            <a:ext cx="3557016" cy="19659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41663" y="1920240"/>
            <a:ext cx="3108960" cy="32004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1">
                <a:solidFill>
                  <a:srgbClr val="A6BFD2"/>
                </a:solidFill>
                <a:latin typeface="Aptos"/>
              </a:defRPr>
            </a:pPr>
            <a:r>
              <a:t>TMS COMENTARIOS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258568"/>
            <a:ext cx="3108960" cy="649224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400" b="1">
                <a:solidFill>
                  <a:srgbClr val="21D3BD"/>
                </a:solidFill>
                <a:latin typeface="Aptos"/>
              </a:defRPr>
            </a:pPr>
            <a:r>
              <a:t>10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3" y="3118104"/>
            <a:ext cx="310896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Textos (referencia)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5072"/>
            <a:ext cx="10835640" cy="1408176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233672"/>
            <a:ext cx="9829800" cy="4114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MUESTRA REALMENTE VALIDADA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718304"/>
            <a:ext cx="10058400" cy="4114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800" b="0">
                <a:solidFill>
                  <a:srgbClr val="21D3BD"/>
                </a:solidFill>
                <a:latin typeface="Aptos"/>
              </a:defRPr>
            </a:pPr>
            <a:r>
              <a:t>1,000 leads  ·  1,462 cotizaciones FX  ·  600 pagos  ·  1,200 comentarios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F3C35C"/>
                </a:solidFill>
                <a:latin typeface="Aptos"/>
              </a:defRPr>
            </a:pPr>
            <a:r>
              <a:t>La ejecución masiva está parametrizada, pero NO se ha ejecutado: no se muestran benchmarks ficticios.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Calidad y modelo dimensional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Probar relaciones y consistencia antes de escalar el volumen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03/05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5166360" cy="331012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975104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901952"/>
            <a:ext cx="465429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Modelo dimensional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514600"/>
            <a:ext cx="4690872" cy="239572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fact_ventas · fact_fx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fact_interacciones · fact_tours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SCD2: cliente y sala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Claves sustitutas y correspondencias entre sistemas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719072"/>
            <a:ext cx="5349240" cy="331012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975104"/>
            <a:ext cx="50292" cy="411480"/>
          </a:xfrm>
          <a:prstGeom prst="rect">
            <a:avLst/>
          </a:prstGeom>
          <a:solidFill>
            <a:srgbClr val="F3C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01952"/>
            <a:ext cx="4837175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Evidencia comprobada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4873752" cy="239572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31 pruebas Python: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14 controles de calidad: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4 relaciones conciliadas: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Contratos/ventas, pagos/contratos,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comentarios/tours y ventas/FX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559552"/>
            <a:ext cx="10424160" cy="585216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300" b="0">
                <a:solidFill>
                  <a:srgbClr val="A6BFD2"/>
                </a:solidFill>
                <a:latin typeface="Aptos"/>
              </a:defRPr>
            </a:pPr>
            <a:r>
              <a:t>SQLite valida la lógica de la muestra. PostgreSQL y dbt siguen pendientes de ejecución en Docker.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Del Call Center a Mantis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Procesamiento near-real-time y búsqueda semántica con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04/05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00784"/>
            <a:ext cx="5221224" cy="33375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956816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883664"/>
            <a:ext cx="4709160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Kafka + Spark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496312"/>
            <a:ext cx="4745736" cy="24231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transcripciones_raw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regex / reglas aprobadas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transcripciones_procesadas + alertas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UPSERT por event_id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PostgreSQL (replay idempotente)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700784"/>
            <a:ext cx="5358384" cy="33375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956816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883664"/>
            <a:ext cx="4846320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Embeddings +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96312"/>
            <a:ext cx="4882896" cy="24231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Comentarios/transcripciones a Parquet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privacidad + chunking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Embeddings incrementales (hash)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pgvector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Mantis: recuperación con fuentes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530352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300" b="0">
                <a:solidFill>
                  <a:srgbClr val="F3C35C"/>
                </a:solidFill>
                <a:latin typeface="Aptos"/>
              </a:defRPr>
            </a:pPr>
            <a:r>
              <a:t>Limitación: código implementado, integración Kafka/Spark/pgvector y API Mantis aún no verificadas.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Viabilidad, riesgos y próximos hitos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Propuesta orientada a valor para FX, Client Journey y consolidación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05/05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73352"/>
            <a:ext cx="3483864" cy="338328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929384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856232"/>
            <a:ext cx="2971800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Beneficio esperado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468880"/>
            <a:ext cx="3008376" cy="24688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FX centralizado y conciliable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Visión de cliente y contratos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Menos inconsistencias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Datos gobernados para Mantis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73352"/>
            <a:ext cx="3493008" cy="338328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929384"/>
            <a:ext cx="50292" cy="411480"/>
          </a:xfrm>
          <a:prstGeom prst="rect">
            <a:avLst/>
          </a:prstGeom>
          <a:solidFill>
            <a:srgbClr val="F3C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856232"/>
            <a:ext cx="2980944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Riesgos y costos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468880"/>
            <a:ext cx="3017520" cy="24688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Acceso Oracle 11g / latencia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PII, consentimiento y ACL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Recursos Spark / Kafka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Storage, cómputo, operación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No hay ROI estimado sin piloto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2712" y="1673352"/>
            <a:ext cx="3493008" cy="338328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929384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4" y="1856232"/>
            <a:ext cx="2980944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Hitos de aceptación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2468880"/>
            <a:ext cx="3017520" cy="24688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1. Probar Parquet y DW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2. Ejecutar Airflow + dbt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3. Validar streaming y RAG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4. Benchmark volumetría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5. Grabar demo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596128"/>
            <a:ext cx="10789920" cy="4572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Decisiones de negocio pendientes: definición VPG y conversión, reglas de transcripción y API real de Mantis.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